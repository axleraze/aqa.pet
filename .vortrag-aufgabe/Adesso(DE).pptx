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Sora SemiBold"/>
      <p:regular r:id="rId22"/>
      <p:bold r:id="rId23"/>
    </p:embeddedFont>
    <p:embeddedFont>
      <p:font typeface="IBM Plex Sans Medium"/>
      <p:regular r:id="rId24"/>
      <p:bold r:id="rId25"/>
      <p:italic r:id="rId26"/>
      <p:boldItalic r:id="rId27"/>
    </p:embeddedFont>
    <p:embeddedFont>
      <p:font typeface="Sora Light"/>
      <p:regular r:id="rId28"/>
      <p:bold r:id="rId29"/>
    </p:embeddedFont>
    <p:embeddedFont>
      <p:font typeface="Sora ExtraLight"/>
      <p:regular r:id="rId30"/>
      <p:bold r:id="rId31"/>
    </p:embeddedFont>
    <p:embeddedFont>
      <p:font typeface="Sora"/>
      <p:regular r:id="rId32"/>
      <p:bold r:id="rId33"/>
    </p:embeddedFont>
    <p:embeddedFont>
      <p:font typeface="Sora Medium"/>
      <p:regular r:id="rId34"/>
      <p:bold r:id="rId35"/>
    </p:embeddedFont>
    <p:embeddedFont>
      <p:font typeface="IBM Plex Sans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raExtraLight-bold.fntdata"/><Relationship Id="rId30" Type="http://schemas.openxmlformats.org/officeDocument/2006/relationships/font" Target="fonts/SoraExtraLight-regular.fntdata"/><Relationship Id="rId33" Type="http://schemas.openxmlformats.org/officeDocument/2006/relationships/font" Target="fonts/Sora-bold.fntdata"/><Relationship Id="rId32" Type="http://schemas.openxmlformats.org/officeDocument/2006/relationships/font" Target="fonts/Sora-regular.fntdata"/><Relationship Id="rId35" Type="http://schemas.openxmlformats.org/officeDocument/2006/relationships/font" Target="fonts/SoraMedium-bold.fntdata"/><Relationship Id="rId34" Type="http://schemas.openxmlformats.org/officeDocument/2006/relationships/font" Target="fonts/SoraMedium-regular.fntdata"/><Relationship Id="rId37" Type="http://schemas.openxmlformats.org/officeDocument/2006/relationships/font" Target="fonts/IBMPlexSansSemiBold-bold.fntdata"/><Relationship Id="rId36" Type="http://schemas.openxmlformats.org/officeDocument/2006/relationships/font" Target="fonts/IBMPlexSansSemiBold-regular.fntdata"/><Relationship Id="rId39" Type="http://schemas.openxmlformats.org/officeDocument/2006/relationships/font" Target="fonts/IBMPlexSansSemiBold-boldItalic.fntdata"/><Relationship Id="rId38" Type="http://schemas.openxmlformats.org/officeDocument/2006/relationships/font" Target="fonts/IBMPlexSansSemiBold-italic.fntdata"/><Relationship Id="rId20" Type="http://schemas.openxmlformats.org/officeDocument/2006/relationships/font" Target="fonts/IBMPlexSans-italic.fntdata"/><Relationship Id="rId22" Type="http://schemas.openxmlformats.org/officeDocument/2006/relationships/font" Target="fonts/SoraSemiBold-regular.fntdata"/><Relationship Id="rId21" Type="http://schemas.openxmlformats.org/officeDocument/2006/relationships/font" Target="fonts/IBMPlexSans-boldItalic.fntdata"/><Relationship Id="rId24" Type="http://schemas.openxmlformats.org/officeDocument/2006/relationships/font" Target="fonts/IBMPlexSansMedium-regular.fntdata"/><Relationship Id="rId23" Type="http://schemas.openxmlformats.org/officeDocument/2006/relationships/font" Target="fonts/SoraSemiBold-bold.fntdata"/><Relationship Id="rId26" Type="http://schemas.openxmlformats.org/officeDocument/2006/relationships/font" Target="fonts/IBMPlexSansMedium-italic.fntdata"/><Relationship Id="rId25" Type="http://schemas.openxmlformats.org/officeDocument/2006/relationships/font" Target="fonts/IBMPlexSansMedium-bold.fntdata"/><Relationship Id="rId28" Type="http://schemas.openxmlformats.org/officeDocument/2006/relationships/font" Target="fonts/SoraLight-regular.fntdata"/><Relationship Id="rId27" Type="http://schemas.openxmlformats.org/officeDocument/2006/relationships/font" Target="fonts/IBMPlexSansMedium-boldItalic.fntdata"/><Relationship Id="rId29" Type="http://schemas.openxmlformats.org/officeDocument/2006/relationships/font" Target="fonts/SoraLigh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BMPlexSans-bold.fntdata"/><Relationship Id="rId18" Type="http://schemas.openxmlformats.org/officeDocument/2006/relationships/font" Target="fonts/IBMPlex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6fe6869406_0_1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6fe6869406_0_1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6fe6869406_0_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6fe6869406_0_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6fe6869406_0_1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6fe6869406_0_1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98fe6badd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98fe6badd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98fe6badd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98fe6badd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98fe6badd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98fe6badd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98fe6badd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98fe6badd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98fe6badd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98fe6badd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6fe6869406_0_1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36fe6869406_0_1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98fe6badd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98fe6badd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6fe6869406_0_1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36fe6869406_0_1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node.js" TargetMode="External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idx="1" type="subTitle"/>
          </p:nvPr>
        </p:nvSpPr>
        <p:spPr>
          <a:xfrm>
            <a:off x="371500" y="3243900"/>
            <a:ext cx="3525300" cy="14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A</a:t>
            </a:r>
            <a:r>
              <a:rPr b="1" lang="en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nastasiia Kem, Test Engineer   </a:t>
            </a:r>
            <a:endParaRPr b="1" sz="800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Über 7 Jahre Erfahrung im Testen in verschiedenen Domänen </a:t>
            </a:r>
            <a:endParaRPr sz="800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(Web, Embedded, Fintech, Banking) in Unternehmen wie </a:t>
            </a:r>
            <a:endParaRPr sz="800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GlobalLogic, Raiffeisen Bank, Hermes Europe.</a:t>
            </a:r>
            <a:endParaRPr sz="800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800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Also insgesamt fast 15 Jahre in der IT </a:t>
            </a:r>
            <a:endParaRPr sz="800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63"/>
          <p:cNvSpPr txBox="1"/>
          <p:nvPr>
            <p:ph idx="2" type="title"/>
          </p:nvPr>
        </p:nvSpPr>
        <p:spPr>
          <a:xfrm>
            <a:off x="157800" y="505775"/>
            <a:ext cx="4531800" cy="2190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Auswahl des Testautomatisierungstools für das Projekt „Abcd-ef“ der Firma ABC GmbH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35" name="Google Shape;935;p6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</p:txBody>
      </p:sp>
      <p:sp>
        <p:nvSpPr>
          <p:cNvPr id="936" name="Google Shape;936;p63"/>
          <p:cNvSpPr txBox="1"/>
          <p:nvPr>
            <p:ph idx="1" type="subTitle"/>
          </p:nvPr>
        </p:nvSpPr>
        <p:spPr>
          <a:xfrm>
            <a:off x="4692600" y="374225"/>
            <a:ext cx="4137300" cy="40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Think about your audience.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Some will already know about the project. Others will be hearing about it for the first time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This is your opportunity to make sure everyone is on the same page.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pic>
        <p:nvPicPr>
          <p:cNvPr id="937" name="Google Shape;93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2350" y="192975"/>
            <a:ext cx="4953051" cy="477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4"/>
          <p:cNvSpPr txBox="1"/>
          <p:nvPr>
            <p:ph idx="3" type="title"/>
          </p:nvPr>
        </p:nvSpPr>
        <p:spPr>
          <a:xfrm>
            <a:off x="180775" y="446025"/>
            <a:ext cx="17361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Inhalt</a:t>
            </a:r>
            <a:endParaRPr b="1" sz="1800"/>
          </a:p>
        </p:txBody>
      </p:sp>
      <p:sp>
        <p:nvSpPr>
          <p:cNvPr id="943" name="Google Shape;943;p64"/>
          <p:cNvSpPr txBox="1"/>
          <p:nvPr>
            <p:ph type="title"/>
          </p:nvPr>
        </p:nvSpPr>
        <p:spPr>
          <a:xfrm>
            <a:off x="103850" y="6810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64"/>
          <p:cNvSpPr txBox="1"/>
          <p:nvPr>
            <p:ph idx="8" type="subTitle"/>
          </p:nvPr>
        </p:nvSpPr>
        <p:spPr>
          <a:xfrm>
            <a:off x="1748525" y="1991625"/>
            <a:ext cx="6937500" cy="5640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3.  Auswahl der Programmiersprache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Backend vs. Frontend Programmiersprache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64"/>
          <p:cNvSpPr txBox="1"/>
          <p:nvPr>
            <p:ph idx="13" type="subTitle"/>
          </p:nvPr>
        </p:nvSpPr>
        <p:spPr>
          <a:xfrm>
            <a:off x="1748525" y="1084425"/>
            <a:ext cx="6445500" cy="7029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 2.   Grundlagen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Testpyramide.  Abdeckung auf API-Ebene. 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Kostenpflichtige und Open-Source-Lösungen für UI-Tests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64"/>
          <p:cNvSpPr txBox="1"/>
          <p:nvPr>
            <p:ph idx="15" type="subTitle"/>
          </p:nvPr>
        </p:nvSpPr>
        <p:spPr>
          <a:xfrm>
            <a:off x="1748525" y="314000"/>
            <a:ext cx="6019800" cy="882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1.   Produktanalyse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Definition der Domäne, technischen Merkmale und Projektphase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Vorhandene Anforderungen und Dokumentation (Requirements, Spezifikationen, Testarten)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Identifikation von Problemstellen, Zielen und Zeitrahmen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64"/>
          <p:cNvSpPr txBox="1"/>
          <p:nvPr>
            <p:ph idx="4" type="subTitle"/>
          </p:nvPr>
        </p:nvSpPr>
        <p:spPr>
          <a:xfrm>
            <a:off x="1774850" y="3443053"/>
            <a:ext cx="5868000" cy="747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.  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Die Bedeutung von Testbarkeit und Messbarkeit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Verbesserung der Testbarkeit und Integration der Tests in die CI/CD-Pipeline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Aufbau von Quality Gates, Definition von Reports und Metriken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64"/>
          <p:cNvSpPr txBox="1"/>
          <p:nvPr>
            <p:ph idx="6" type="subTitle"/>
          </p:nvPr>
        </p:nvSpPr>
        <p:spPr>
          <a:xfrm>
            <a:off x="1774850" y="2738100"/>
            <a:ext cx="6306600" cy="505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 4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Überblick über UI-Testautomatisierungstools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Selenium, Playwright, Cypress.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Analyse der führenden Frameworks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64"/>
          <p:cNvSpPr txBox="1"/>
          <p:nvPr>
            <p:ph idx="4" type="subTitle"/>
          </p:nvPr>
        </p:nvSpPr>
        <p:spPr>
          <a:xfrm>
            <a:off x="1801175" y="4249625"/>
            <a:ext cx="6144000" cy="4341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. Schlussfolgerungen und Empfehlungen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6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65"/>
          <p:cNvSpPr txBox="1"/>
          <p:nvPr>
            <p:ph type="title"/>
          </p:nvPr>
        </p:nvSpPr>
        <p:spPr>
          <a:xfrm>
            <a:off x="526000" y="500375"/>
            <a:ext cx="6507000" cy="4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1. Projektanalyse      </a:t>
            </a:r>
            <a:endParaRPr b="1"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1.1 Definition der Domäne, technischen Merkmale und Projektphase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1.2 Verfügbarkeit von Anforderungen und Projektdokumentation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1.3 Vorhandensein von manuellen und automatisierten Tests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1.4 Identifikation von Problemstellen (z. B. Nutzer Beschwerden, Einschränkungen)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1.5  Definition der Ziele, Zeitrahmen und Budgets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6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66"/>
          <p:cNvSpPr txBox="1"/>
          <p:nvPr>
            <p:ph type="title"/>
          </p:nvPr>
        </p:nvSpPr>
        <p:spPr>
          <a:xfrm>
            <a:off x="278100" y="426300"/>
            <a:ext cx="4103400" cy="44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2.  Grundlagen</a:t>
            </a:r>
            <a:endParaRPr b="1"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2.1 Test Pyramide: 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Unit Tests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– werden von Entwicklern geschrieben, um Code auf niedriger Ebene zu prüfen.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API / Integration Tests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– prüfen Datenaustausch zwischen Modulen, Anwendungen oder Services.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GUI Tests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– prüfen visuelle Elemente der Anwendung.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Manuelle Tests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– händische Überprüfung.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rPr>
              <a:t>Ziel: Reduktion manueller Tests auf ein Minimum.</a:t>
            </a:r>
            <a:endParaRPr b="1" sz="1000">
              <a:highlight>
                <a:schemeClr val="accen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2.2 Automatisierte Tests: 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API-Testabdeckung: 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Halbautomatisch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: Postman, SoapUI, JMeter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Frameworks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: REST-Assured (Java), RestAssured.Net (C#), Retrofit (Java)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Kommerzielle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E2E/ UI-Lösungen:Ranorex, Katalon Studio, TestComplete, etc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rPr>
              <a:t>Open-Source E2E/ UI-Lösungen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Selenium WebDriver (Java, C#, Python, JS),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Playwright (Java, C#, Python, JS),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Cypress (JS)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62" name="Google Shape;96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5050" y="762250"/>
            <a:ext cx="4240000" cy="359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7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67"/>
          <p:cNvSpPr txBox="1"/>
          <p:nvPr>
            <p:ph type="title"/>
          </p:nvPr>
        </p:nvSpPr>
        <p:spPr>
          <a:xfrm>
            <a:off x="96025" y="821500"/>
            <a:ext cx="5846400" cy="38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1400" u="sng">
                <a:latin typeface="Arial"/>
                <a:ea typeface="Arial"/>
                <a:cs typeface="Arial"/>
                <a:sym typeface="Arial"/>
              </a:rPr>
              <a:t>.  </a:t>
            </a: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Wahl der Programmiersprache  </a:t>
            </a:r>
            <a:endParaRPr b="1"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3.1 Backend-Sprache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verwenden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(z. B. Java, C#, Python)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Einfache Integration von API-Tests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Wiederverwendung bestehender Klassen möglich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Stabil, weit verbreitet, große Community (Java, C#, Python)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Große Community von Programmierern und Testern. Es ist einfach, Entwicklers zu finden.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UI-Tests im Browser langsamer (nicht-native Sprache)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Höhere Einstiegshürde für Java/C#,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aber kein Problem für unsere Teams :=)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3.2 Frontend-Sprache verwenden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(JavaScript / TypeScript)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Native Browser-Sprachen → direkter Zugriff auf Seitenelemente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Playwright wurde ursprünglich in TypeScript entwickelt (Microsoft)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Schnell, modern, ideal für SPAs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Kein Typisierungssystem in JavaScript → potenziell chaotischer Code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Skriptsprache ist langsamer als kompilierte Sprachen wie Java oder C#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69" name="Google Shape;96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2425" y="2130375"/>
            <a:ext cx="2714626" cy="139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68"/>
          <p:cNvSpPr txBox="1"/>
          <p:nvPr>
            <p:ph type="title"/>
          </p:nvPr>
        </p:nvSpPr>
        <p:spPr>
          <a:xfrm>
            <a:off x="96025" y="821500"/>
            <a:ext cx="4971600" cy="3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 4.</a:t>
            </a:r>
            <a:r>
              <a:rPr lang="en" sz="1400" u="sng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 Überblick über UI-Testtools:</a:t>
            </a:r>
            <a:r>
              <a:rPr lang="en" sz="1400" u="sng">
                <a:latin typeface="Arial"/>
                <a:ea typeface="Arial"/>
                <a:cs typeface="Arial"/>
                <a:sym typeface="Arial"/>
              </a:rPr>
              <a:t> </a:t>
            </a:r>
            <a:endParaRPr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4.1   </a:t>
            </a:r>
            <a:r>
              <a:rPr b="1" lang="en" sz="1000"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rPr>
              <a:t>Selenium WebDriver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Open-Source-Tool zur Automatisierung von UI-Tests in Browsern.  Bietet Cross-Browser-Unterstützung (Chrome, Firefox, Safari) und Multi-Language-Kompatibilität.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Funktionsprinzip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Selenium Emuliert reale Benutzeraktionen (Klicks, Texteingaben, Navigation).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Arbeitet nach dem Client-Server-Modell über den JSON Wire Protocol / W3C WebDriver Standard.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Ablauf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Testcode ruft Selenium-Methoden auf (z. B. driver.element.click()).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Befehle werden als HTTP/JSON-Anfragen an den Browser-Treiber gesendet.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Browser-Treiber (z. B. chromedriver.exe) übersetzen sie in native Browser-APIs.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Browser führt Aktion aus und sendet das Ergebnis zurück.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Fazit: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Jede Aktion erzeugt einen HTTP-Request → das ist langsamer.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Umfangreicher, etwas schwerfälliger als moderne Alternativen.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Selenium WebDriver erfüllt ein W3C-Standard.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Es hat große Community, Dokumentation, Entwicklern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Es gibt viele Erweiterungen (z. B. Selenide)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76" name="Google Shape;9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900" y="228600"/>
            <a:ext cx="3796501" cy="8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9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69"/>
          <p:cNvSpPr txBox="1"/>
          <p:nvPr>
            <p:ph type="title"/>
          </p:nvPr>
        </p:nvSpPr>
        <p:spPr>
          <a:xfrm>
            <a:off x="147300" y="457200"/>
            <a:ext cx="4971600" cy="42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4.2. </a:t>
            </a:r>
            <a:r>
              <a:rPr b="1" lang="en" sz="1000"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rPr>
              <a:t>Playwright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ist ein modernes E2E / UI Test Framework von </a:t>
            </a:r>
            <a:r>
              <a:rPr lang="en" sz="1000" u="sng">
                <a:latin typeface="Arial"/>
                <a:ea typeface="Arial"/>
                <a:cs typeface="Arial"/>
                <a:sym typeface="Arial"/>
              </a:rPr>
              <a:t>Microsoft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Es ist schneller als Selenium, hat umfangreiche integrierte Funktionalität.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Unterstützt (auch wie Selenium) Chrome/Edge, Firefox und WebKit über ein einheitliches API.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Technische Merkmale: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Nutzt WebSocket-Verbindung statt HTTP → schneller Datenaustausch.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Direkter Zugriff auf Browser Prozesse („Out-of-Process“-Architektur).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Unterstützt moderne Web Features (SPA, Shadow DOM, WebSockets).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Bietet Analyse, Videoaufzeichnung, Reporting und viele andere.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Fazit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Playwright ist ziemlich schnell, bequem, robust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Es ist weniger Entwickler als für Selenium,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Ältere Projekte bleiben oft bei Selenium.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</a:t>
            </a:r>
            <a:endParaRPr sz="1800"/>
          </a:p>
        </p:txBody>
      </p:sp>
      <p:pic>
        <p:nvPicPr>
          <p:cNvPr id="983" name="Google Shape;98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900" y="228600"/>
            <a:ext cx="3796501" cy="8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7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70"/>
          <p:cNvSpPr txBox="1"/>
          <p:nvPr>
            <p:ph type="title"/>
          </p:nvPr>
        </p:nvSpPr>
        <p:spPr>
          <a:xfrm>
            <a:off x="147300" y="457200"/>
            <a:ext cx="4971600" cy="42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rPr>
              <a:t>4.3  Cypress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- auch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bekanntes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 Framework für E2E-Tests mit anderer Architektur als Selenium und Playwrite.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Tests laufen direkt im Browser neben der getesteten Anwendung.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Es hat voller und schneller  Zugriff auf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Browser Objekte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- DOM, window document, localStorage), deswegen das schnellste ist.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Cypress wurde mit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JavaScript/TypeScript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Geschrieben und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läuft nur unter </a:t>
            </a:r>
            <a:r>
              <a:rPr lang="en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Node.js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Ekosystem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.  Sehr interaktiv, aber nicht universell einsetzbar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0" name="Google Shape;99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8900" y="228600"/>
            <a:ext cx="3796501" cy="8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1"/>
          <p:cNvSpPr txBox="1"/>
          <p:nvPr>
            <p:ph idx="1" type="body"/>
          </p:nvPr>
        </p:nvSpPr>
        <p:spPr>
          <a:xfrm>
            <a:off x="5341625" y="1338300"/>
            <a:ext cx="3027600" cy="27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Ebenso wichtig sind die Metriken und Berichte, mit deren Hilfe die Wirksamkeit der Tests bewertet werden kann.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 Wichtige Kennzahlen: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Automatisierungsgrad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Prozentsatz der Codeabdeckung durch Autotests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MTTR (Mean Time to Repair)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Defektdichte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Reporting zur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Projektstatus Analyse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7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71"/>
          <p:cNvSpPr txBox="1"/>
          <p:nvPr>
            <p:ph idx="3" type="title"/>
          </p:nvPr>
        </p:nvSpPr>
        <p:spPr>
          <a:xfrm>
            <a:off x="261300" y="529100"/>
            <a:ext cx="4137000" cy="26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.  </a:t>
            </a: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Testbarkeit und Messbarkeit</a:t>
            </a:r>
            <a:endParaRPr b="1"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Integration der Autotests in die CI/CD-Pipeline ist entscheidend.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Automatisierte Tests ohne Pipeline-Einbindung sind von sehr geringem Nutzen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Quality Gate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= Satz automatischer Prüfungen, die sicherstellen,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dass nur qualitativ einwandfreier Code in den nächsten Entwicklungsabschnitt gelangt.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Hilft, fehlerhaften Code frühzeitig zu stoppen und Qualität messbar zu machen.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7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72"/>
          <p:cNvSpPr txBox="1"/>
          <p:nvPr>
            <p:ph idx="3" type="title"/>
          </p:nvPr>
        </p:nvSpPr>
        <p:spPr>
          <a:xfrm>
            <a:off x="167650" y="594850"/>
            <a:ext cx="7991100" cy="26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.  </a:t>
            </a: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Empfehlungen</a:t>
            </a:r>
            <a:endParaRPr b="1"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Programmiersprache: Java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Framework für API-Tests: REST-Assured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Framework für UI-Tests: Selenium WebDriver (optional mit Selenide)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3"/>
          <p:cNvSpPr txBox="1"/>
          <p:nvPr>
            <p:ph type="title"/>
          </p:nvPr>
        </p:nvSpPr>
        <p:spPr>
          <a:xfrm>
            <a:off x="2615100" y="1801500"/>
            <a:ext cx="38199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Vielen Dank für Ihre Aufmerksamkeit</a:t>
            </a:r>
            <a:endParaRPr b="1" sz="1800"/>
          </a:p>
        </p:txBody>
      </p:sp>
      <p:sp>
        <p:nvSpPr>
          <p:cNvPr id="1009" name="Google Shape;1009;p73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  <a:latin typeface="Sora"/>
                <a:ea typeface="Sora"/>
                <a:cs typeface="Sora"/>
                <a:sym typeface="Sora"/>
              </a:rPr>
              <a:t>adesso</a:t>
            </a:r>
            <a:endParaRPr b="1" sz="1200">
              <a:solidFill>
                <a:schemeClr val="accent4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