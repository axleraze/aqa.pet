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Sora SemiBold"/>
      <p:regular r:id="rId23"/>
      <p:bold r:id="rId24"/>
    </p:embeddedFont>
    <p:embeddedFont>
      <p:font typeface="IBM Plex Sans Medium"/>
      <p:regular r:id="rId25"/>
      <p:bold r:id="rId26"/>
      <p:italic r:id="rId27"/>
      <p:boldItalic r:id="rId28"/>
    </p:embeddedFont>
    <p:embeddedFont>
      <p:font typeface="Sora Light"/>
      <p:regular r:id="rId29"/>
      <p:bold r:id="rId30"/>
    </p:embeddedFont>
    <p:embeddedFont>
      <p:font typeface="Sora ExtraLight"/>
      <p:regular r:id="rId31"/>
      <p:bold r:id="rId32"/>
    </p:embeddedFont>
    <p:embeddedFont>
      <p:font typeface="Sora"/>
      <p:regular r:id="rId33"/>
      <p:bold r:id="rId34"/>
    </p:embeddedFont>
    <p:embeddedFont>
      <p:font typeface="Sora Medium"/>
      <p:regular r:id="rId35"/>
      <p:bold r:id="rId36"/>
    </p:embeddedFont>
    <p:embeddedFont>
      <p:font typeface="IBM Plex Sa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ExtraLight-regular.fntdata"/><Relationship Id="rId30" Type="http://schemas.openxmlformats.org/officeDocument/2006/relationships/font" Target="fonts/SoraLight-bold.fntdata"/><Relationship Id="rId33" Type="http://schemas.openxmlformats.org/officeDocument/2006/relationships/font" Target="fonts/Sora-regular.fntdata"/><Relationship Id="rId32" Type="http://schemas.openxmlformats.org/officeDocument/2006/relationships/font" Target="fonts/SoraExtraLight-bold.fntdata"/><Relationship Id="rId35" Type="http://schemas.openxmlformats.org/officeDocument/2006/relationships/font" Target="fonts/SoraMedium-regular.fntdata"/><Relationship Id="rId34" Type="http://schemas.openxmlformats.org/officeDocument/2006/relationships/font" Target="fonts/Sora-bold.fntdata"/><Relationship Id="rId37" Type="http://schemas.openxmlformats.org/officeDocument/2006/relationships/font" Target="fonts/IBMPlexSansSemiBold-regular.fntdata"/><Relationship Id="rId36" Type="http://schemas.openxmlformats.org/officeDocument/2006/relationships/font" Target="fonts/SoraMedium-bold.fntdata"/><Relationship Id="rId39" Type="http://schemas.openxmlformats.org/officeDocument/2006/relationships/font" Target="fonts/IBMPlexSansSemiBold-italic.fntdata"/><Relationship Id="rId38" Type="http://schemas.openxmlformats.org/officeDocument/2006/relationships/font" Target="fonts/IBMPlexSansSemiBold-bold.fntdata"/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26" Type="http://schemas.openxmlformats.org/officeDocument/2006/relationships/font" Target="fonts/IBMPlexSansMedium-bold.fntdata"/><Relationship Id="rId25" Type="http://schemas.openxmlformats.org/officeDocument/2006/relationships/font" Target="fonts/IBMPlexSansMedium-regular.fntdata"/><Relationship Id="rId28" Type="http://schemas.openxmlformats.org/officeDocument/2006/relationships/font" Target="fonts/IBMPlexSansMedium-boldItalic.fntdata"/><Relationship Id="rId27" Type="http://schemas.openxmlformats.org/officeDocument/2006/relationships/font" Target="fonts/IBMPlexSansMedium-italic.fntdata"/><Relationship Id="rId29" Type="http://schemas.openxmlformats.org/officeDocument/2006/relationships/font" Target="fonts/Sora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6fe6869406_0_1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6fe6869406_0_1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6fe6869406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6fe6869406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6fe6869406_0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6fe6869406_0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98fe6badd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98fe6badd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98fe6badd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98fe6badd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98fe6badd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98fe6badd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98fe6badd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98fe6badd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98fe6badd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98fe6badd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98fe6badd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98fe6badd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6fe6869406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6fe6869406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98fe6bad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98fe6bad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6fe6869406_0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6fe6869406_0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1" type="subTitle"/>
          </p:nvPr>
        </p:nvSpPr>
        <p:spPr>
          <a:xfrm>
            <a:off x="371500" y="3243900"/>
            <a:ext cx="3525300" cy="14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A</a:t>
            </a:r>
            <a:r>
              <a:rPr b="1" lang="en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nastasiia Kem, Test Engineer   </a:t>
            </a:r>
            <a:endParaRPr b="1"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Более 7 лет в тестировании в разных доменных областях(web, embedded, fintech, banking) в таких </a:t>
            </a: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компаниях</a:t>
            </a: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 как  GlobalLogic, Raiffeisen Bank, Hermes Europe </a:t>
            </a:r>
            <a:endParaRPr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8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Почти 15 лет в IT вцелом.</a:t>
            </a:r>
            <a:endParaRPr sz="8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3"/>
          <p:cNvSpPr txBox="1"/>
          <p:nvPr>
            <p:ph idx="2" type="title"/>
          </p:nvPr>
        </p:nvSpPr>
        <p:spPr>
          <a:xfrm>
            <a:off x="157800" y="505775"/>
            <a:ext cx="4531800" cy="1947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Выбор инструмента автоматизации тестирования для проекта “Abcd-ef“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компании ABC GmbH</a:t>
            </a:r>
            <a:endParaRPr sz="2400"/>
          </a:p>
        </p:txBody>
      </p:sp>
      <p:sp>
        <p:nvSpPr>
          <p:cNvPr id="935" name="Google Shape;935;p6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</p:txBody>
      </p:sp>
      <p:sp>
        <p:nvSpPr>
          <p:cNvPr id="936" name="Google Shape;936;p63"/>
          <p:cNvSpPr txBox="1"/>
          <p:nvPr>
            <p:ph idx="1" type="subTitle"/>
          </p:nvPr>
        </p:nvSpPr>
        <p:spPr>
          <a:xfrm>
            <a:off x="4692600" y="374225"/>
            <a:ext cx="4137300" cy="40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about your audience.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Some will already know about the project. Others will be hearing about it for the first time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This is your opportunity to make sure everyone is on the same page.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937" name="Google Shape;9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350" y="192975"/>
            <a:ext cx="4953051" cy="477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4"/>
          <p:cNvSpPr txBox="1"/>
          <p:nvPr>
            <p:ph idx="3" type="title"/>
          </p:nvPr>
        </p:nvSpPr>
        <p:spPr>
          <a:xfrm>
            <a:off x="180775" y="446025"/>
            <a:ext cx="17361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Contents</a:t>
            </a:r>
            <a:endParaRPr b="1" sz="1800"/>
          </a:p>
        </p:txBody>
      </p:sp>
      <p:sp>
        <p:nvSpPr>
          <p:cNvPr id="943" name="Google Shape;943;p64"/>
          <p:cNvSpPr txBox="1"/>
          <p:nvPr>
            <p:ph type="title"/>
          </p:nvPr>
        </p:nvSpPr>
        <p:spPr>
          <a:xfrm>
            <a:off x="103850" y="6810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4"/>
          <p:cNvSpPr txBox="1"/>
          <p:nvPr>
            <p:ph idx="8" type="subTitle"/>
          </p:nvPr>
        </p:nvSpPr>
        <p:spPr>
          <a:xfrm>
            <a:off x="1748525" y="1666425"/>
            <a:ext cx="6937500" cy="564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3. 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Выбор языка программирования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Язык программирования Backend VS Язык программирования Frontend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64"/>
          <p:cNvSpPr txBox="1"/>
          <p:nvPr>
            <p:ph idx="13" type="subTitle"/>
          </p:nvPr>
        </p:nvSpPr>
        <p:spPr>
          <a:xfrm>
            <a:off x="1748525" y="1045988"/>
            <a:ext cx="6445500" cy="6585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 2.   Коротко основы: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Пирамида тестирования. Варианты покрытия API уровня,  варианты платных решений UI, варианты opensource решений UI.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64"/>
          <p:cNvSpPr txBox="1"/>
          <p:nvPr>
            <p:ph idx="15" type="subTitle"/>
          </p:nvPr>
        </p:nvSpPr>
        <p:spPr>
          <a:xfrm>
            <a:off x="1748525" y="118050"/>
            <a:ext cx="6019800" cy="882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1.  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Определяем детали проекта: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Определение домена,  тех. характеристик,  стади проекта.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Наявность требований (requirements) и др. документации,  мануал-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/авто- тестирования.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Определяем проблемные участки, чего хотим и в какие сроки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64"/>
          <p:cNvSpPr txBox="1"/>
          <p:nvPr>
            <p:ph idx="4" type="subTitle"/>
          </p:nvPr>
        </p:nvSpPr>
        <p:spPr>
          <a:xfrm>
            <a:off x="1748525" y="3103228"/>
            <a:ext cx="5868000" cy="747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.   Важность тестируемости и измеряемости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Улучшение тестируемости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приложения и интеграции автотестов в CI/CD пайплайн. Построение Quality Gate. Определение отчетности и метрик.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64"/>
          <p:cNvSpPr txBox="1"/>
          <p:nvPr>
            <p:ph idx="6" type="subTitle"/>
          </p:nvPr>
        </p:nvSpPr>
        <p:spPr>
          <a:xfrm>
            <a:off x="1748525" y="2444800"/>
            <a:ext cx="6306600" cy="505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 4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Обзор средств автотестов для UI: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Selenium, Playwright, Cypress. Определение лидеров AT.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64"/>
          <p:cNvSpPr txBox="1"/>
          <p:nvPr>
            <p:ph idx="4" type="subTitle"/>
          </p:nvPr>
        </p:nvSpPr>
        <p:spPr>
          <a:xfrm>
            <a:off x="1748525" y="4069575"/>
            <a:ext cx="6144000" cy="4341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. Итоговые рекомендации.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65"/>
          <p:cNvSpPr txBox="1"/>
          <p:nvPr>
            <p:ph type="title"/>
          </p:nvPr>
        </p:nvSpPr>
        <p:spPr>
          <a:xfrm>
            <a:off x="228600" y="597850"/>
            <a:ext cx="6374400" cy="4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1. Определяем детали проекта      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1.1 Определение домена,  тех. характеристик,  стади проекта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1.2 Наявность требований (requirements) и другой проектной документации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1.3 Наявность  мануал- /авто- тестирования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1.4 Определяем проблемные участки, если есть (обращение пользователей с жалобами, улучшениями), внутренние ограничения.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1.5 Определяем чего хотим, в какие сроки, за какой бюджет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6"/>
          <p:cNvSpPr txBox="1"/>
          <p:nvPr>
            <p:ph type="title"/>
          </p:nvPr>
        </p:nvSpPr>
        <p:spPr>
          <a:xfrm>
            <a:off x="115750" y="457200"/>
            <a:ext cx="4103400" cy="42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2.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Коротко основы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2.1 Пирамида тестирования: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Unit Tests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- покрытие кода тестами на низком уровне, пишут программисты приложения;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API Tests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/ Integration Tests - проверка обмена данными между двумя модулями программы, приложениями, сервисами.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GUI Tests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-  проверка внешних элементов приложения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Manual Tests - проверка “в ручную”, присутствует во всех кроме нижних уровнях. В идеале - мануальных тестов должно быть меньше всего. 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Наша цель - добиться этого.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2.2 Automation Tests: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Варианты покрытия API уровня: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Полуавтоматизированные: Postman, SoapUI, JMeter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Фреймфорки для автотестирования: REST-Assured  /Java, RestAssured.Net/C#, Retrofit /Java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Варианты платных решений для E2E / UI тестов: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Katalon Studio, TestComplete, Ranorex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Варианты opensource решений  E2E / UI тестов: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Selenium WebDriver /Java, C#, Python, Js Playwright /Java, C#, Python, Js, Cypress /Js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62" name="Google Shape;9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050" y="762250"/>
            <a:ext cx="4240000" cy="359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7"/>
          <p:cNvSpPr txBox="1"/>
          <p:nvPr>
            <p:ph type="title"/>
          </p:nvPr>
        </p:nvSpPr>
        <p:spPr>
          <a:xfrm>
            <a:off x="96025" y="821500"/>
            <a:ext cx="5846400" cy="3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400" u="sng"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Выбор языка программирования  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3.1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Язык программирования такой как на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Back-End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части проекта.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Можно удобно интегрировать API тесты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Можно переиспользовать часть кода основных классов проекта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Стабильный и популярный язык (Java, C#, Python)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Большое сообщество программистов и тестировщиков. Легко найти рабочие кадры.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UI автотесты которые проводятся в браузере могут иметь некоторые задержки, так как для браузера нативный язык JavaScript / TypeScript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Для Java, C# более высокий порог входа.          (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Но для нас это не проблема:)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  =&gt;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3.2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Язык программирования такой как на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Front-End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части проекта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JavaScript / TypeScript это нативный язык браузера, поэтому нужно меньше прослоек, чтоб взаимодействовать с элементами страницы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Playwright фреймворк разработанный Microsoft и был изначально написанный на TypeScript, что обеспечивает самые свежие фичи.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(Но Playwright также портирован на все остальные популярные языки)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+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JavaScript / TypeScript также очень популярны у многих разработчиков.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Нет типизации в языке JavaScript, что делает его более хаотичным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Скриптовый язык JavaScript медленнее чем Java, C#.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69" name="Google Shape;9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425" y="2130375"/>
            <a:ext cx="2714626" cy="13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8"/>
          <p:cNvSpPr txBox="1"/>
          <p:nvPr>
            <p:ph type="title"/>
          </p:nvPr>
        </p:nvSpPr>
        <p:spPr>
          <a:xfrm>
            <a:off x="147300" y="663650"/>
            <a:ext cx="4971600" cy="4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 4.</a:t>
            </a:r>
            <a:r>
              <a:rPr lang="en" sz="1400" u="sng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Обзор средств автотестов для UI:</a:t>
            </a:r>
            <a:r>
              <a:rPr lang="en" sz="1400" u="sng">
                <a:latin typeface="Arial"/>
                <a:ea typeface="Arial"/>
                <a:cs typeface="Arial"/>
                <a:sym typeface="Arial"/>
              </a:rPr>
              <a:t> </a:t>
            </a:r>
            <a:endParaRPr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Selenium WebDriver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 – это Open-Source инструмент, для автоматизации UI тестирования в браузере. Обеспечивает кросс-браузерное тестирование (Chrome, Firefox, Safari) и мультиязыковую поддержку.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Принцип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 Эмуляция реальных действий пользователя в браузере (клики, ввод текста, навигация, ожидание загрузки элементов) для проверки функциональности и стабильности веб-приложения.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WebDriver работает по модели Клиент-Сервер (Client-Server Model), используя стандартизированный протокол: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Как это происходит: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Наши классы и библиотеки, то есть то что мы будем разрабатывать, на выбранном языке (например, Java) использует встроенные классы и методы Selenium, где уже прописана основная логика взаимодействия с браузером.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Например мы описываем команду, например, "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driver.element.click()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" - что равно клик мышки по элементу на странице, так как бы это делал пользователь.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JSON Wire Protocol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/ W3C WebDriver Standard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Наша команда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driver.element.click()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и ряд других вспомогательных команд на Java (мы в данном случае выступаем "Клиентом") сериализуется в виде HTTP-запроса с полезной информацией в формате JSON и отправляются далее на обработку драйверам-посредникам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76" name="Google Shape;9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900" y="228600"/>
            <a:ext cx="37965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9"/>
          <p:cNvSpPr txBox="1"/>
          <p:nvPr>
            <p:ph type="title"/>
          </p:nvPr>
        </p:nvSpPr>
        <p:spPr>
          <a:xfrm>
            <a:off x="147300" y="457200"/>
            <a:ext cx="4971600" cy="43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Браузерные драйверы (Browser Drivers) - это уже готовые исполняемые файлы (например, chromedriver.exe, geckodriver.exe), предоставленные разработчиками браузеров Google, Mozilla, получают HTTP/JSON запросы от твоего кода, десериализуют их и переводят в команды, понятные для 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API браузера.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Браузер выполняет нативную переданную команду и сообщает Драйверу о результате. А Драйвер в свою очередь, формирует ответ в JSON-формате и отправляет его обратно в наш написанный фреймворк на Java.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Вывод: 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Selenium не работает с браузерным кодом JavaScript напрямую, а управляет браузером через его собственный, предоставленный вендором, нативный интерфейс.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- Это немного влияет на скорость выполнения UI тестов. Каждая команда — это новый HTTP-запрос, что приводит к дополнительным накладным расходам и замедлению.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- Выглядит громоздким и многословным. Есть конкуренты более “легкие”.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+ Selenium WebDriver это часть W3C WebDriver стандарта, под который производители браузера обязаны разрабатывать и поддерживать совместимые драйверы.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+ Большое комьюнити, хорошая документация и много дополнительных плагинов и решений.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+ Пример такого решения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Selenide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- это обёртка вокруг Selenium WebDriver, позволяющая быстрее и просто его использовать при написании тестов.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+ Большое количество разработчиков как бюджетного уровня, так и дорогих.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83" name="Google Shape;9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900" y="228600"/>
            <a:ext cx="37965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70"/>
          <p:cNvSpPr txBox="1"/>
          <p:nvPr>
            <p:ph type="title"/>
          </p:nvPr>
        </p:nvSpPr>
        <p:spPr>
          <a:xfrm>
            <a:off x="147300" y="457200"/>
            <a:ext cx="4971600" cy="42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Playwright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— это более молодой и современный фреймворк для сквозного (End-to-End) тестирования, разработанный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Microsoft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и п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озиционируется как современная, быстрая и надежная альтернатива Selenium.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Ключевая особенность	Единый API для Chrome/Edge, Firefox и Webkit (Safari), включая работу с мобильными эмуляциями.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Основная цель и отличие от конкурентов: Обеспечить высокую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скорость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выполнения тестов, стабильность и поддержку современных веб-технологий (Single Page Applications, Shadow DOM, WebSockets).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Главное отличие Playwright от Selenium — это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способ взаимодействия с браузером.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Вот некоторые ключевые особенности: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Протокол Связи: WebSocket 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Selenium: Основан на HTTP-запросах - JSON Wire Protocol, что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медленнее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Playwright: Использует WebSocket-соединение: то есть устанавливает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одно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постоянное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двунаправленное 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соединение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между нашим тестовым  скриптом и браузером.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2. Подход "Out-of-Process"</a:t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Это обеспечивает минимальную задержку и более быструю передачу команд и ответов, что делает тесты значительно быстрее.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Playwright запускает сервер (Node.js), который, в свою очередь, управляет браузером напрямую.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+"/>
            </a:pPr>
            <a:r>
              <a:rPr lang="en" sz="1000"/>
              <a:t>Этот подход позволяет Playwright взаимодействовать с браузером на более низком уровне,  что быстрее и менее ресурсоемко.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+"/>
            </a:pPr>
            <a:r>
              <a:rPr lang="en" sz="1000"/>
              <a:t>Поддерживает много современных фич анализ трафика, запись результатов теста. </a:t>
            </a:r>
            <a:endParaRPr sz="1800"/>
          </a:p>
        </p:txBody>
      </p:sp>
      <p:pic>
        <p:nvPicPr>
          <p:cNvPr id="990" name="Google Shape;9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900" y="228600"/>
            <a:ext cx="37965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1"/>
          <p:cNvSpPr txBox="1"/>
          <p:nvPr>
            <p:ph type="title"/>
          </p:nvPr>
        </p:nvSpPr>
        <p:spPr>
          <a:xfrm>
            <a:off x="147300" y="457200"/>
            <a:ext cx="4971600" cy="42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Иногда сложнее найти разработчиков, чем на Selenium.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-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Скорее всего что большие и старые проекты уже имеют кодовую базу тестов на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Selenium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Cypress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-  еще один сильный игрок фреймворк для End-to-End тестирования,  имеет иной архитектурный подход по сравнению как с Selenium, так и с Playwright.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Ключевой принцип- тесты выполняются непосредственно в браузере, рядом с самим тестируемым приложением.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Cypress Test Runner (CLI-интерфейс и графический UI) запускает браузер.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Тестовый код  загружается и выполняется в том же цикле выполнения (Run Loop), что и твой код приложения.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+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Нативный. 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Полный доступ ко всем объектам браузера (DOM, window, document, localStorage), что невозможно для Selenium.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Основан на JavaScript/TypeScript и работает только с экосистемой Node.js.</a:t>
            </a:r>
            <a:endParaRPr sz="1000"/>
          </a:p>
        </p:txBody>
      </p:sp>
      <p:pic>
        <p:nvPicPr>
          <p:cNvPr id="997" name="Google Shape;99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900" y="228600"/>
            <a:ext cx="37965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2"/>
          <p:cNvSpPr txBox="1"/>
          <p:nvPr>
            <p:ph idx="1" type="body"/>
          </p:nvPr>
        </p:nvSpPr>
        <p:spPr>
          <a:xfrm>
            <a:off x="5341625" y="1338300"/>
            <a:ext cx="3027600" cy="27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Так же важны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метрики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и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отчетность,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которые помогают оценивать эффективность тестирования.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Основные метрики включают процент автоматизации, тестовое покрытие кода, время исправления критических дефектов (MTTR) и плотность дефектов.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Отчеты, в свою очередь, так же предоставляют качественный обзор, который помогает команде понять статус проекта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7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2"/>
          <p:cNvSpPr txBox="1"/>
          <p:nvPr>
            <p:ph idx="3" type="title"/>
          </p:nvPr>
        </p:nvSpPr>
        <p:spPr>
          <a:xfrm>
            <a:off x="115025" y="502775"/>
            <a:ext cx="4137000" cy="34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 Важность тестируемости и  измеряемости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Очень важно заниматься интеграцией автотестов в CI/CD пайплайн.  Автотесты написанные “в стол” не приносят пользы.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Ключевая задача - построение Quality Gate, когда тесты интегрированы тесно в CI/CD и каждый релиз, обновление от разработчиков сопровождается запуском автотестов.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Так вот,</a:t>
            </a:r>
            <a:r>
              <a:rPr b="1" lang="en" sz="1000">
                <a:latin typeface="Arial"/>
                <a:ea typeface="Arial"/>
                <a:cs typeface="Arial"/>
                <a:sym typeface="Arial"/>
              </a:rPr>
              <a:t> Quality Gate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(ворота качества) — это набор автоматических проверок, которые определяют, соответствует ли код (проект с обновлениями) необходимым критериям качества для перехода на следующий этап разработки.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Это система контрольных точек в конвейере CI/CD, которая останавливает продвижение кода, если он не проходит пороговые значения, тем самым предотвращая попадание дефектного кода в продакшн и решая проблемы на ранних стадиях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72"/>
          <p:cNvSpPr txBox="1"/>
          <p:nvPr>
            <p:ph idx="4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/ 46 KW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adesso</a:t>
            </a:r>
            <a:endParaRPr b="1"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73"/>
          <p:cNvSpPr txBox="1"/>
          <p:nvPr>
            <p:ph idx="3" type="title"/>
          </p:nvPr>
        </p:nvSpPr>
        <p:spPr>
          <a:xfrm>
            <a:off x="167650" y="594850"/>
            <a:ext cx="7991100" cy="26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1" lang="en" sz="1400" u="sng">
                <a:latin typeface="Arial"/>
                <a:ea typeface="Arial"/>
                <a:cs typeface="Arial"/>
                <a:sym typeface="Arial"/>
              </a:rPr>
              <a:t>.  Итоговые  рекомендации по выбору инструмента для автотестов </a:t>
            </a:r>
            <a:endParaRPr b="1"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Язык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программирования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: Java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Ф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реймворк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 для API и интеграционного тестирования: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REST-Assured 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Фреймворк для  UI тестирования: Selenium Webdriver  (с возможностью использования Selenide)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73"/>
          <p:cNvSpPr txBox="1"/>
          <p:nvPr>
            <p:ph idx="4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/ 46 KW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4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</a:t>
            </a:r>
            <a:endParaRPr/>
          </a:p>
        </p:txBody>
      </p:sp>
      <p:sp>
        <p:nvSpPr>
          <p:cNvPr id="1018" name="Google Shape;1018;p74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  <a:latin typeface="Sora"/>
                <a:ea typeface="Sora"/>
                <a:cs typeface="Sora"/>
                <a:sym typeface="Sora"/>
              </a:rPr>
              <a:t>adesso</a:t>
            </a:r>
            <a:endParaRPr b="1" sz="1200">
              <a:solidFill>
                <a:schemeClr val="accent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9" name="Google Shape;1019;p74"/>
          <p:cNvSpPr txBox="1"/>
          <p:nvPr>
            <p:ph idx="4294967295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2025 / 46 KW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